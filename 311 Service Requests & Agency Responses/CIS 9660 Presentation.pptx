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8759cf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8759cf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93bb1f5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093bb1f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8759cf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08759cf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8759cf2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08759cf2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08759cf2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08759cf2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8759cf2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08759cf2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093bb1f5b_0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e093bb1f5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93bb1f5b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093bb1f5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08759cf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08759cf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8759cf28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08759cf28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08759cf28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08759cf28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08759cf28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08759cf28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2.jpg"/><Relationship Id="rId5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ata.cityofnewyork.us/Social-Services/311-Service-Requests-from-2020-to-Present/erm2-nwe9/about_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311 Analyzers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Christopher Chan, </a:t>
            </a:r>
            <a:r>
              <a:rPr lang="en"/>
              <a:t>Lincon Chopra, Nino Alishvili, Rojina Dhikari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25" y="1729000"/>
            <a:ext cx="2012599" cy="150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200">
                <a:latin typeface="Calibri"/>
                <a:ea typeface="Calibri"/>
                <a:cs typeface="Calibri"/>
                <a:sym typeface="Calibri"/>
              </a:rPr>
              <a:t>Introduction and background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We analyzed thousands of NYC 311 service requests to understand what actually drives city agency response times.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Our project developed a machine learning model that predicts whether a complaint will be resolved within seven days, helping identify specific bottlenecks in public services across different boroughs.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00" y="2571750"/>
            <a:ext cx="1871650" cy="18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75" y="1091950"/>
            <a:ext cx="2232425" cy="12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/>
        </p:nvSpPr>
        <p:spPr>
          <a:xfrm>
            <a:off x="237744" y="576072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Motivation of the Research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01168" y="1234440"/>
            <a:ext cx="2816400" cy="157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01168" y="1234440"/>
            <a:ext cx="2816400" cy="504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47472" y="1389888"/>
            <a:ext cx="420600" cy="4206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320040" y="1371600"/>
            <a:ext cx="47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🏙️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859536" y="1389888"/>
            <a:ext cx="203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 of 311 Requests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38328" y="1901952"/>
            <a:ext cx="254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NYC receives thousands of 311 service requests daily across different agencies and all five boroughs.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3145536" y="1234440"/>
            <a:ext cx="2816400" cy="157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3145536" y="1234440"/>
            <a:ext cx="2816400" cy="5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3291840" y="1389888"/>
            <a:ext cx="420600" cy="420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264408" y="1371600"/>
            <a:ext cx="47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⏱️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803904" y="1389888"/>
            <a:ext cx="203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Impact on Quality of Life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3282696" y="1901952"/>
            <a:ext cx="254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Delayed resolution negatively affects residents' quality of life and public service efficiency.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089904" y="1234440"/>
            <a:ext cx="2816400" cy="157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089904" y="1234440"/>
            <a:ext cx="2816400" cy="5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236208" y="1389888"/>
            <a:ext cx="420600" cy="420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208776" y="1371600"/>
            <a:ext cx="47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748272" y="1389888"/>
            <a:ext cx="203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Early Delay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227064" y="1901952"/>
            <a:ext cx="254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Predicting whether a request closes within 7 days helps identify potential delays before they escalate.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682496" y="2926080"/>
            <a:ext cx="2816400" cy="157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682496" y="2926080"/>
            <a:ext cx="2816400" cy="504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828800" y="3081528"/>
            <a:ext cx="420600" cy="420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801368" y="3063240"/>
            <a:ext cx="47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340864" y="3081528"/>
            <a:ext cx="203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Allocation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819656" y="3593592"/>
            <a:ext cx="254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Understanding the key factors that influence closure time supports better operational planning.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626864" y="2926080"/>
            <a:ext cx="2816400" cy="157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626864" y="2926080"/>
            <a:ext cx="2816400" cy="50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773168" y="3081528"/>
            <a:ext cx="420600" cy="4206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745736" y="3063240"/>
            <a:ext cx="47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285232" y="3081528"/>
            <a:ext cx="203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Smart City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764024" y="3593592"/>
            <a:ext cx="2541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Combining predictive analytics with public service insights enables smarter, data-driven city management</a:t>
            </a: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2410100" y="58760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200">
                <a:latin typeface="Arial"/>
                <a:ea typeface="Arial"/>
                <a:cs typeface="Arial"/>
                <a:sym typeface="Arial"/>
              </a:rPr>
              <a:t>Dataset description and variable introduction</a:t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675" y="1223000"/>
            <a:ext cx="6524975" cy="341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Sourcing &amp; Scope: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Leveraged the NYC Open Data Socrata API to analyze 311 service requests submitted between January 1, 2026, and April 30, 2026.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Key Predictive Features: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Analyzed organizational (Agency), categorical (Complaint Type), and geographic (Borough) attributes to determine their impact on resolution speed.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Target Variable Definition: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Engineered a binary classification target, "Closed Within 7 Days," to serve as a benchmark for municipal service efficiency.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Feature Engineering: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Transformed raw timestamps into temporal features (Day of Week, Month) and calculated "Resolution Days" to quantify agency performance.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Integrity &amp; Cleaning: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Filtered for closed requests and resolved missing values to ensure a robust dataset for modeling urban service bottlenecks.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25" y="2886625"/>
            <a:ext cx="2050100" cy="1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25" y="1338650"/>
            <a:ext cx="2050102" cy="128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5356405" y="1348513"/>
            <a:ext cx="38322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Evaluated closure rate distributions across NYC 311 requests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Compared resolution performance by borough and complaint category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Identified operational patterns linked to delayed request resolution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Explored variables most relevant to pr</a:t>
            </a:r>
            <a:r>
              <a:rPr lang="en"/>
              <a:t>edicting 7 day closure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5051605" cy="3025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3200875" y="4196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EDA Findings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4000987" y="15177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18" title="f794dd6d-7eae-4e8b-a519-4d0c292ccf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93500"/>
            <a:ext cx="3923801" cy="18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title="ff229b46-7050-41b3-9f6b-7c8e67cb6116.png"/>
          <p:cNvPicPr preferRelativeResize="0"/>
          <p:nvPr/>
        </p:nvPicPr>
        <p:blipFill rotWithShape="1">
          <a:blip r:embed="rId4">
            <a:alphaModFix/>
          </a:blip>
          <a:srcRect b="-10090" l="-9947" r="16375" t="29691"/>
          <a:stretch/>
        </p:blipFill>
        <p:spPr>
          <a:xfrm>
            <a:off x="4104250" y="2951125"/>
            <a:ext cx="3996175" cy="18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244750" y="1158775"/>
            <a:ext cx="3859500" cy="19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Closure rates varied across NYC boroughs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Staten Island and Queens showed higher closure performance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Complaint type strongly affected resolution speed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Infrastructure and sanitation complaints had longer delays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200">
                <a:latin typeface="Arial"/>
                <a:ea typeface="Arial"/>
                <a:cs typeface="Arial"/>
                <a:sym typeface="Arial"/>
              </a:rPr>
              <a:t>Data mining method description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2365925" y="1211350"/>
            <a:ext cx="6355800" cy="3367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Our outcome is binary: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each request either closed within 7 days or did not.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Classification fits the research question: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we are predicting a Yes/No outcome, not a continuous number of days.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 tested multiple models</a:t>
            </a:r>
            <a:r>
              <a:rPr lang="en" sz="1100">
                <a:solidFill>
                  <a:schemeClr val="dk2"/>
                </a:solidFill>
              </a:rPr>
              <a:t> to compare simple, interpretable methods with more flexible machine learning methods.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Logistic Regression provided interpretability</a:t>
            </a:r>
            <a:r>
              <a:rPr lang="en" sz="1100">
                <a:solidFill>
                  <a:schemeClr val="dk2"/>
                </a:solidFill>
              </a:rPr>
              <a:t> by showing how predictors such as complaint type, agency, borough, and time affect the probability of timely closure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Decision Tree, Random Forest, and KNN</a:t>
            </a:r>
            <a:r>
              <a:rPr b="1"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helped test whether more complex patterns improved prediction beyond the baseline model.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Big data analytics abstract concept vector illustration. (Provided by Getty Images)"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61124" cy="2062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bot head with neural network vector, Artificial related filled design icon (Provided by Getty Images)"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66931"/>
            <a:ext cx="2061124" cy="206213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2705375" y="1286863"/>
            <a:ext cx="334500" cy="339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705375" y="1701675"/>
            <a:ext cx="334500" cy="339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705375" y="2232450"/>
            <a:ext cx="334500" cy="339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705375" y="2763225"/>
            <a:ext cx="334500" cy="339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705525" y="3321250"/>
            <a:ext cx="334500" cy="339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237744" y="576072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📊 Model Evaluation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1168" y="1188720"/>
            <a:ext cx="3886200" cy="324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01168" y="1188720"/>
            <a:ext cx="3886200" cy="5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01168" y="1239012"/>
            <a:ext cx="3886200" cy="530400"/>
          </a:xfrm>
          <a:prstGeom prst="rect">
            <a:avLst/>
          </a:prstGeom>
          <a:solidFill>
            <a:srgbClr val="E6F7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38328" y="1188720"/>
            <a:ext cx="370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F3D38"/>
                </a:solidFill>
                <a:latin typeface="Calibri"/>
                <a:ea typeface="Calibri"/>
                <a:cs typeface="Calibri"/>
                <a:sym typeface="Calibri"/>
              </a:rPr>
              <a:t>📋  Evaluation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74320" y="1847088"/>
            <a:ext cx="3739800" cy="420600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38328" y="1847088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⚡ 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801368" y="1847088"/>
            <a:ext cx="214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Overall correct predictions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4320" y="2322576"/>
            <a:ext cx="37398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38328" y="2322576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🎯  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801368" y="2322576"/>
            <a:ext cx="214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Positive predictive value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74320" y="2798064"/>
            <a:ext cx="3739800" cy="420600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38328" y="2798064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🔍  Recall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801368" y="2798064"/>
            <a:ext cx="214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Sensitivity / true positive rate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74320" y="3273552"/>
            <a:ext cx="37398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38328" y="3273552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⭐  F1-Score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801368" y="3273552"/>
            <a:ext cx="214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Harmonic mean of precision &amp; recall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74320" y="3749040"/>
            <a:ext cx="3739800" cy="420600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38328" y="3749040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🔄  3-Fold 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801368" y="3749040"/>
            <a:ext cx="214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Robust performance estimation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572000" y="1188720"/>
            <a:ext cx="4279500" cy="324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572000" y="1188720"/>
            <a:ext cx="4279500" cy="504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72000" y="1239012"/>
            <a:ext cx="4279500" cy="530400"/>
          </a:xfrm>
          <a:prstGeom prst="rect">
            <a:avLst/>
          </a:prstGeom>
          <a:solidFill>
            <a:srgbClr val="FEF0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709160" y="1280160"/>
            <a:ext cx="457200" cy="4572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0916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285232" y="1188720"/>
            <a:ext cx="3502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7A2800"/>
                </a:solidFill>
                <a:latin typeface="Calibri"/>
                <a:ea typeface="Calibri"/>
                <a:cs typeface="Calibri"/>
                <a:sym typeface="Calibri"/>
              </a:rPr>
              <a:t>Why F1-Score?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645152" y="1874520"/>
            <a:ext cx="4133100" cy="713100"/>
          </a:xfrm>
          <a:prstGeom prst="rect">
            <a:avLst/>
          </a:prstGeom>
          <a:solidFill>
            <a:srgbClr val="FFF8F0"/>
          </a:solidFill>
          <a:ln cap="flat" cmpd="sng" w="9525">
            <a:solidFill>
              <a:srgbClr val="F2D4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727448" y="2039112"/>
            <a:ext cx="384000" cy="3840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27448" y="203911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230368" y="1874520"/>
            <a:ext cx="3502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is imbalanced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 alone is misleading on skewed data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645152" y="2679192"/>
            <a:ext cx="4133100" cy="713100"/>
          </a:xfrm>
          <a:prstGeom prst="rect">
            <a:avLst/>
          </a:prstGeom>
          <a:solidFill>
            <a:srgbClr val="FFFCFA"/>
          </a:solidFill>
          <a:ln cap="flat" cmpd="sng" w="9525">
            <a:solidFill>
              <a:srgbClr val="F2D4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727448" y="2843784"/>
            <a:ext cx="384000" cy="3840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27448" y="284378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230368" y="2679192"/>
            <a:ext cx="3502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Balances precision and recall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Captures both false positives and false negatives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645152" y="3483864"/>
            <a:ext cx="4133100" cy="713100"/>
          </a:xfrm>
          <a:prstGeom prst="rect">
            <a:avLst/>
          </a:prstGeom>
          <a:solidFill>
            <a:srgbClr val="FFF8F0"/>
          </a:solidFill>
          <a:ln cap="flat" cmpd="sng" w="9525">
            <a:solidFill>
              <a:srgbClr val="F2D4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727448" y="3648456"/>
            <a:ext cx="384000" cy="3840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27448" y="364845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230368" y="3483864"/>
            <a:ext cx="3502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Primary comparison 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Used to rank and select the best-performing model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01168" y="4590288"/>
            <a:ext cx="8741700" cy="402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74320" y="4590288"/>
            <a:ext cx="859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Train Model   →   📊 Test Model   →   🔄 Cross-Validation   →   🎯 Compare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237744" y="576072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📈 Cross-Validation Results &amp; Best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01168" y="1234440"/>
            <a:ext cx="2487300" cy="324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01168" y="1234440"/>
            <a:ext cx="2487300" cy="50400"/>
          </a:xfrm>
          <a:prstGeom prst="rect">
            <a:avLst/>
          </a:prstGeom>
          <a:solidFill>
            <a:srgbClr val="E861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01168" y="1284732"/>
            <a:ext cx="2487300" cy="502800"/>
          </a:xfrm>
          <a:prstGeom prst="rect">
            <a:avLst/>
          </a:prstGeom>
          <a:solidFill>
            <a:srgbClr val="FEF0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10896" y="1234440"/>
            <a:ext cx="2349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A2800"/>
                </a:solidFill>
                <a:latin typeface="Calibri"/>
                <a:ea typeface="Calibri"/>
                <a:cs typeface="Calibri"/>
                <a:sym typeface="Calibri"/>
              </a:rPr>
              <a:t>🏆  Key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74320" y="1856232"/>
            <a:ext cx="234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76656" y="1856232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Logistic Regression achieved the highest CV F1-score (0.942)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4320" y="2368296"/>
            <a:ext cx="23409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29184" y="2459737"/>
            <a:ext cx="137100" cy="11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76656" y="2368296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 produced the highest recall (0.990)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74320" y="2880360"/>
            <a:ext cx="2340900" cy="457200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76656" y="288036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 Tree provided strong interpretability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74320" y="3392424"/>
            <a:ext cx="23409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76656" y="339242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KNN performed competitively but used sampled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74320" y="3904488"/>
            <a:ext cx="2340900" cy="457200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76656" y="390448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Logistic Regression selected as the best overall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834640" y="1234440"/>
            <a:ext cx="141720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834640" y="123444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251960" y="1234440"/>
            <a:ext cx="111570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251960" y="1234440"/>
            <a:ext cx="111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CV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367528" y="1234440"/>
            <a:ext cx="111570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367528" y="1234440"/>
            <a:ext cx="111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CV 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483096" y="1234440"/>
            <a:ext cx="107910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483096" y="1234440"/>
            <a:ext cx="107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CV Recall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562088" y="1234440"/>
            <a:ext cx="111570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7562088" y="1234440"/>
            <a:ext cx="111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CV F1-Score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834640" y="1691640"/>
            <a:ext cx="1417200" cy="5760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834640" y="1691640"/>
            <a:ext cx="141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251960" y="1691640"/>
            <a:ext cx="1115700" cy="5760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251960" y="1691640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367528" y="1691640"/>
            <a:ext cx="1115700" cy="5760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367528" y="1691640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483096" y="1691640"/>
            <a:ext cx="1079100" cy="5760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483096" y="1691640"/>
            <a:ext cx="1079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562088" y="1691640"/>
            <a:ext cx="1115700" cy="576000"/>
          </a:xfrm>
          <a:prstGeom prst="rect">
            <a:avLst/>
          </a:prstGeom>
          <a:solidFill>
            <a:srgbClr val="CCEFE9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562088" y="1691640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0.942 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322785" y="1794590"/>
            <a:ext cx="36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834640" y="2313432"/>
            <a:ext cx="14172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834640" y="2313432"/>
            <a:ext cx="141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251960" y="2313432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251960" y="2313432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0.889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367528" y="2313432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367528" y="2313432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483096" y="2313432"/>
            <a:ext cx="10791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483096" y="2313432"/>
            <a:ext cx="1079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562088" y="2313432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7562088" y="2313432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834640" y="2935224"/>
            <a:ext cx="1417200" cy="57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2834640" y="2935224"/>
            <a:ext cx="141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251960" y="2935224"/>
            <a:ext cx="1115700" cy="57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251960" y="2935224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0.890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367528" y="2935224"/>
            <a:ext cx="1115700" cy="57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367528" y="2935224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483096" y="2935224"/>
            <a:ext cx="1079100" cy="57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483096" y="2935224"/>
            <a:ext cx="1079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7562088" y="2935224"/>
            <a:ext cx="1115700" cy="57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562088" y="2935224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834640" y="3557016"/>
            <a:ext cx="14172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834640" y="3557016"/>
            <a:ext cx="141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251960" y="3557016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251960" y="3557016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0.866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367528" y="3557016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367528" y="3557016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0.871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483096" y="3557016"/>
            <a:ext cx="1079100" cy="576000"/>
          </a:xfrm>
          <a:prstGeom prst="rect">
            <a:avLst/>
          </a:prstGeom>
          <a:solidFill>
            <a:srgbClr val="CCEFE9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483096" y="3557016"/>
            <a:ext cx="1079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7562088" y="3557016"/>
            <a:ext cx="1115700" cy="57600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7562088" y="3557016"/>
            <a:ext cx="1115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01168" y="4590288"/>
            <a:ext cx="8741700" cy="402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74320" y="4590288"/>
            <a:ext cx="859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Best Model: Logistic Regression  |  F1-Score: 0.942  |  Selected for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338328" y="2045899"/>
            <a:ext cx="137100" cy="11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27177" y="3017269"/>
            <a:ext cx="137100" cy="11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45284" y="4071366"/>
            <a:ext cx="137100" cy="11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38328" y="3594736"/>
            <a:ext cx="137100" cy="11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72825" y="430100"/>
            <a:ext cx="82317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n"/>
              <a:t>Final Predictive Results</a:t>
            </a:r>
            <a:endParaRPr/>
          </a:p>
        </p:txBody>
      </p:sp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4919875" y="692825"/>
            <a:ext cx="39864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Conducted a second EDA on the final prediction dataset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Analyzed model outputs rather than historical request data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Evaluated predicted closure outcomes and probability distributions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Identified operational patterns associated with unresolved requests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Translated model predictions into actionable service insights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2" title="d87fcbd7-477b-4740-aaa7-c45cf3d8e5bf.png"/>
          <p:cNvPicPr preferRelativeResize="0"/>
          <p:nvPr/>
        </p:nvPicPr>
        <p:blipFill rotWithShape="1">
          <a:blip r:embed="rId3">
            <a:alphaModFix/>
          </a:blip>
          <a:srcRect b="-1846" l="-8752" r="5060" t="-1846"/>
          <a:stretch/>
        </p:blipFill>
        <p:spPr>
          <a:xfrm>
            <a:off x="-4" y="916575"/>
            <a:ext cx="4722949" cy="31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128625" y="4029900"/>
            <a:ext cx="77589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Predicted closure probabilities varied across requests, indicating that the model captured meaningful differences in resolution likelihood across NYC 311 cases.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Predictive Results</a:t>
            </a:r>
            <a:endParaRPr/>
          </a:p>
        </p:txBody>
      </p:sp>
      <p:sp>
        <p:nvSpPr>
          <p:cNvPr id="290" name="Google Shape;290;p23"/>
          <p:cNvSpPr txBox="1"/>
          <p:nvPr>
            <p:ph idx="1" type="body"/>
          </p:nvPr>
        </p:nvSpPr>
        <p:spPr>
          <a:xfrm>
            <a:off x="466925" y="1180438"/>
            <a:ext cx="4372500" cy="3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requests were predicted not to close within 7 days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Delayed resolution appeared common across NYC 311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Prediction patterns aligned with earlier EDA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highlighted ongoing operational </a:t>
            </a:r>
            <a:r>
              <a:rPr lang="en"/>
              <a:t>inefficiency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3" title="01fc6fe9-950d-442b-aaf9-d7c818f6be1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425" y="1211350"/>
            <a:ext cx="3921651" cy="34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200">
                <a:latin typeface="Arial"/>
                <a:ea typeface="Arial"/>
                <a:cs typeface="Arial"/>
                <a:sym typeface="Arial"/>
              </a:rPr>
              <a:t>Practical implications</a:t>
            </a:r>
            <a:endParaRPr/>
          </a:p>
        </p:txBody>
      </p:sp>
      <p:pic>
        <p:nvPicPr>
          <p:cNvPr descr="Man with question mark and two option for solving problem, guy with dilemma sitting (Provided by Getty Images)" id="297" name="Google Shape;2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81" y="703000"/>
            <a:ext cx="1773650" cy="11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/>
          <p:nvPr/>
        </p:nvSpPr>
        <p:spPr>
          <a:xfrm>
            <a:off x="2380550" y="1211350"/>
            <a:ext cx="6341400" cy="3452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Better resident expectations:</a:t>
            </a:r>
            <a:r>
              <a:rPr lang="en" sz="1100">
                <a:solidFill>
                  <a:schemeClr val="dk2"/>
                </a:solidFill>
              </a:rPr>
              <a:t> NYC311 could estimate whether a request is likely to close within 7 days. 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Identify service delays:</a:t>
            </a:r>
            <a:r>
              <a:rPr lang="en" sz="1100">
                <a:solidFill>
                  <a:schemeClr val="dk2"/>
                </a:solidFill>
              </a:rPr>
              <a:t> agencies can see which complaint types or boroughs are less likely to close quickly.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Improve resource planning: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staff and resources can be directed toward slower request categories.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Support process improvements:</a:t>
            </a:r>
            <a:r>
              <a:rPr lang="en" sz="1100">
                <a:solidFill>
                  <a:schemeClr val="dk2"/>
                </a:solidFill>
              </a:rPr>
              <a:t> agencies can review workflows where delays are common. </a:t>
            </a:r>
            <a:endParaRPr sz="11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Monitor service fairness:</a:t>
            </a:r>
            <a:r>
              <a:rPr lang="en" sz="1100">
                <a:solidFill>
                  <a:schemeClr val="dk2"/>
                </a:solidFill>
              </a:rPr>
              <a:t> differences across boroughs can help flag potential service gaps.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Work Plan Icon (Provided by Getty Images)" id="299" name="Google Shape;2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38400"/>
            <a:ext cx="1878973" cy="1878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analysis and workers. Landing page or web development with employee worker flat people vector illustration modern design. (Provided by Getty Images)" id="300" name="Google Shape;30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197" y="3820500"/>
            <a:ext cx="1613373" cy="112967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/>
          <p:nvPr/>
        </p:nvSpPr>
        <p:spPr>
          <a:xfrm>
            <a:off x="2655950" y="1347475"/>
            <a:ext cx="356100" cy="349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2655950" y="1886000"/>
            <a:ext cx="356100" cy="349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2656900" y="2424175"/>
            <a:ext cx="356100" cy="349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2656900" y="2962350"/>
            <a:ext cx="356100" cy="349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2655950" y="3500525"/>
            <a:ext cx="356100" cy="349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Dataset: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https://data.cityofnewyork.us/Social-Services/311-Service-Requests-from-2020-to-Present/erm2-nwe9/about_data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